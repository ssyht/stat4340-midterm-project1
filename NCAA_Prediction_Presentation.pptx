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1"/>
    <p:restoredTop sz="94610"/>
  </p:normalViewPr>
  <p:slideViewPr>
    <p:cSldViewPr snapToGrid="0" snapToObjects="1">
      <p:cViewPr varScale="1">
        <p:scale>
          <a:sx n="280" d="100"/>
          <a:sy n="280" d="100"/>
        </p:scale>
        <p:origin x="1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A1628"/>
                </a:solidFill>
                <a:latin typeface="Arial"/>
              </a:rPr>
              <a:t>Men's Tournament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Men's Accuracy</c:v>
                </c:pt>
              </c:strCache>
            </c:strRef>
          </c:tx>
          <c:spPr>
            <a:solidFill>
              <a:srgbClr val="1A3A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94-9F4B-BF45-19AED2E28623}"/>
              </c:ext>
            </c:extLst>
          </c:dPt>
          <c:dPt>
            <c:idx val="1"/>
            <c:invertIfNegative val="0"/>
            <c:bubble3D val="0"/>
            <c:spPr>
              <a:solidFill>
                <a:srgbClr val="C993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94-9F4B-BF45-19AED2E28623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94-9F4B-BF45-19AED2E28623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94-9F4B-BF45-19AED2E28623}"/>
              </c:ext>
            </c:extLst>
          </c:dPt>
          <c:cat>
            <c:strRef>
              <c:f>Sheet1!$A$2:$A$5</c:f>
              <c:strCache>
                <c:ptCount val="4"/>
                <c:pt idx="0">
                  <c:v>Logistic
(Small)</c:v>
                </c:pt>
                <c:pt idx="1">
                  <c:v>Logistic
(Full)</c:v>
                </c:pt>
                <c:pt idx="2">
                  <c:v>Tree</c:v>
                </c:pt>
                <c:pt idx="3">
                  <c:v>Random
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0.70389999999999997</c:v>
                </c:pt>
                <c:pt idx="1">
                  <c:v>0.71360000000000001</c:v>
                </c:pt>
                <c:pt idx="2">
                  <c:v>0.69979999999999998</c:v>
                </c:pt>
                <c:pt idx="3">
                  <c:v>0.68600000000000005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94-9F4B-BF45-19AED2E286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5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0A1628"/>
                </a:solidFill>
                <a:latin typeface="Arial"/>
              </a:rPr>
              <a:t>Women's Tournament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Women's Accuracy</c:v>
                </c:pt>
              </c:strCache>
            </c:strRef>
          </c:tx>
          <c:spPr>
            <a:solidFill>
              <a:srgbClr val="1A3A6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488-3F49-893B-AD5A3D1AAFC2}"/>
              </c:ext>
            </c:extLst>
          </c:dPt>
          <c:dPt>
            <c:idx val="1"/>
            <c:invertIfNegative val="0"/>
            <c:bubble3D val="0"/>
            <c:spPr>
              <a:solidFill>
                <a:srgbClr val="C993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88-3F49-893B-AD5A3D1AAFC2}"/>
              </c:ext>
            </c:extLst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88-3F49-893B-AD5A3D1AAFC2}"/>
              </c:ext>
            </c:extLst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488-3F49-893B-AD5A3D1AAFC2}"/>
              </c:ext>
            </c:extLst>
          </c:dPt>
          <c:cat>
            <c:strRef>
              <c:f>Sheet1!$A$2:$A$5</c:f>
              <c:strCache>
                <c:ptCount val="4"/>
                <c:pt idx="0">
                  <c:v>Logistic
(Small)</c:v>
                </c:pt>
                <c:pt idx="1">
                  <c:v>Logistic
(Full)</c:v>
                </c:pt>
                <c:pt idx="2">
                  <c:v>Tree</c:v>
                </c:pt>
                <c:pt idx="3">
                  <c:v>Random
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0.78500000000000003</c:v>
                </c:pt>
                <c:pt idx="1">
                  <c:v>0.79400000000000004</c:v>
                </c:pt>
                <c:pt idx="2">
                  <c:v>0.78039999999999998</c:v>
                </c:pt>
                <c:pt idx="3">
                  <c:v>0.77629999999999999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488-3F49-893B-AD5A3D1AA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2"/>
          <c:min val="0.7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646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NCAA Basketball</a:t>
            </a:r>
            <a:endParaRPr lang="en-US" sz="42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930C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Tournament Prediction</a:t>
            </a:r>
            <a:endParaRPr lang="en-US" sz="42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Modeling</a:t>
            </a:r>
            <a:endParaRPr lang="en-US" sz="42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11480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Sanjit Subhash</a:t>
            </a:r>
            <a:endParaRPr lang="en-US" sz="15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201168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C993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1,449</a:t>
            </a:r>
            <a:endParaRPr lang="en-US" sz="18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4498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Men's Games</a:t>
            </a:r>
            <a:endParaRPr lang="en-US" sz="10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926080" y="4160520"/>
            <a:ext cx="201168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C993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92608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961</a:t>
            </a:r>
            <a:endParaRPr lang="en-US" sz="18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4498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Women's Games</a:t>
            </a:r>
            <a:endParaRPr lang="en-US" sz="10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94960" y="4160520"/>
            <a:ext cx="2011680" cy="685800"/>
          </a:xfrm>
          <a:prstGeom prst="rect">
            <a:avLst/>
          </a:prstGeom>
          <a:solidFill>
            <a:srgbClr val="1A3A6E"/>
          </a:solidFill>
          <a:ln w="12700">
            <a:solidFill>
              <a:srgbClr val="C993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39496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Calibri" panose="020F0502020204030204" pitchFamily="34" charset="0"/>
              </a:rPr>
              <a:t>4</a:t>
            </a:r>
            <a:endParaRPr lang="en-US" sz="18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94960" y="4498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anose="020F0502020204030204" pitchFamily="34" charset="0"/>
              </a:rPr>
              <a:t>Models Tested</a:t>
            </a:r>
            <a:endParaRPr lang="en-US" sz="1000" dirty="0"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PROJECT GOAL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01168" cy="201168"/>
          </a:xfrm>
          <a:prstGeom prst="ellipse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04672" y="1719072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 NCAA tournament game outcomes for both men's and women's brackets.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201168" cy="201168"/>
          </a:xfrm>
          <a:prstGeom prst="ellipse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04672" y="2368296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Compare multiple classification methods to find the best predictive model.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201168" cy="201168"/>
          </a:xfrm>
          <a:prstGeom prst="ellipse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04672" y="3017520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Use cross-validation to ensure selection is based on out-of-sample performance.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" y="3703320"/>
            <a:ext cx="201168" cy="201168"/>
          </a:xfrm>
          <a:prstGeom prst="ellipse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04672" y="366674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Test at least one logistic regression and one tree-based model as required.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4206240" cy="411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0" y="11887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8-PHASE WORKFLOW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81728" y="1719072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681728" y="17190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  Data Inspection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66560" y="1719072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766560" y="17190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  Feature Engineering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81728" y="2395728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81728" y="23957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  Exploratory Analysis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66560" y="2395728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766560" y="239572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  Baseline Models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81728" y="3072384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681728" y="30723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  Expanded Comparison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766560" y="3072384"/>
            <a:ext cx="1920240" cy="530352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766560" y="30723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6  Cross-Validation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81728" y="3749040"/>
            <a:ext cx="1920240" cy="530352"/>
          </a:xfrm>
          <a:prstGeom prst="rect">
            <a:avLst/>
          </a:prstGeom>
          <a:solidFill>
            <a:srgbClr val="12244A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81728" y="37490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7  Final Model Selection</a:t>
            </a:r>
            <a:endParaRPr lang="en-US" sz="1050" dirty="0">
              <a:latin typeface="Aptos" panose="020B0004020202020204" pitchFamily="34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766560" y="3749040"/>
            <a:ext cx="1920240" cy="530352"/>
          </a:xfrm>
          <a:prstGeom prst="rect">
            <a:avLst/>
          </a:prstGeom>
          <a:solidFill>
            <a:srgbClr val="12244A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66560" y="374904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  Conclusions</a:t>
            </a:r>
            <a:endParaRPr lang="en-US" sz="10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Dataset Background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Men's Tournament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0312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1,449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312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670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Win Balance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0312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A: 727  |  B: 722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3931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Women's Tournament</a:t>
            </a:r>
            <a:endParaRPr lang="en-US" sz="1500" dirty="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17556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17556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961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00800" y="22128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670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Win Balance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6700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A: 486  |  B: 475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474720"/>
            <a:ext cx="8412480" cy="1325880"/>
          </a:xfrm>
          <a:prstGeom prst="rect">
            <a:avLst/>
          </a:prstGeom>
          <a:solidFill>
            <a:srgbClr val="12244A"/>
          </a:solidFill>
          <a:ln w="12700">
            <a:solidFill>
              <a:srgbClr val="C9930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930C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Key Design Detail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8862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Teams were randomly assigned to Team A and Team B in each game so the winner was not always listed first. This required a difference-based predictor approach rather than using raw team statistics directly.</a:t>
            </a:r>
            <a:endParaRPr lang="en-US" sz="12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47472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APPROACH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30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Response Variable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y = 1 if Team A wins, y = 0 if Team B wins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2004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542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30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Predictor Creation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864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Each predictor was computed as the difference between Team A's average statistic minus Team B's average statistic. A positive value means Team A had the advantage.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20040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3895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Cleaned datasets renamed: men2 and women2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14800" y="1188720"/>
            <a:ext cx="4663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14800" y="1188720"/>
            <a:ext cx="4663440" cy="411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0" y="1188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15 DIFFERENCE PREDICTORS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24528" y="1719072"/>
            <a:ext cx="1417320" cy="438912"/>
          </a:xfrm>
          <a:prstGeom prst="rect">
            <a:avLst/>
          </a:prstGeom>
          <a:solidFill>
            <a:srgbClr val="1224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24528" y="1719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SeedDiff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33288" y="1719072"/>
            <a:ext cx="1417320" cy="438912"/>
          </a:xfrm>
          <a:prstGeom prst="rect">
            <a:avLst/>
          </a:prstGeom>
          <a:solidFill>
            <a:srgbClr val="1224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33288" y="1719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FGMDiff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42048" y="1719072"/>
            <a:ext cx="1417320" cy="438912"/>
          </a:xfrm>
          <a:prstGeom prst="rect">
            <a:avLst/>
          </a:prstGeom>
          <a:solidFill>
            <a:srgbClr val="1224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242048" y="1719072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FGADiff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24528" y="2276856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24528" y="22768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ScoreDiff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33288" y="2276856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33288" y="22768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FGM3Diff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42048" y="2276856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42048" y="227685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FGA3Diff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24528" y="2834640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24528" y="28346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AstDiff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733288" y="2834640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733288" y="28346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FTMDiff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242048" y="2834640"/>
            <a:ext cx="1417320" cy="438912"/>
          </a:xfrm>
          <a:prstGeom prst="rect">
            <a:avLst/>
          </a:prstGeom>
          <a:solidFill>
            <a:srgbClr val="1A3A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242048" y="28346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FTADiff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24528" y="3392424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24528" y="3392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TODiff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733288" y="3392424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33288" y="3392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ORDiff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42048" y="3392424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42048" y="339242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DRDiff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24528" y="3950208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224528" y="39502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StlDiff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733288" y="3950208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33288" y="39502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BlkDiff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42048" y="3950208"/>
            <a:ext cx="1417320" cy="438912"/>
          </a:xfrm>
          <a:prstGeom prst="rect">
            <a:avLst/>
          </a:prstGeom>
          <a:solidFill>
            <a:srgbClr val="0D6B4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242048" y="39502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PFDiff</a:t>
            </a:r>
            <a:endParaRPr lang="en-US" sz="11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Exploratory Data Analysis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73152" cy="173736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30352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Class Balance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Win rates were nearly 50/50 in both datasets. Men: 727 A-wins vs 722 B-wins. Women: 486 vs 475. No class imbalance correction was needed.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73152" cy="1737360"/>
          </a:xfrm>
          <a:prstGeom prst="rect">
            <a:avLst/>
          </a:prstGeom>
          <a:solidFill>
            <a:srgbClr val="0D6B4A"/>
          </a:solidFill>
          <a:ln w="12700">
            <a:solidFill>
              <a:srgbClr val="0D6B4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28032" y="1298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Histograms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28032" y="164592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SeedDiff and ScoreDiff were centered near zero in both datasets. The women's ScoreDiff showed a slightly wider spread than the men's version.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73152" cy="173736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Boxplots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" y="3566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Higher ScoreDiff and better SeedDiff were both associated with Team A wins. These patterns aligned with basketball intuition about team quality.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39319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73152" cy="1737360"/>
          </a:xfrm>
          <a:prstGeom prst="rect">
            <a:avLst/>
          </a:prstGeom>
          <a:solidFill>
            <a:srgbClr val="12244A"/>
          </a:solidFill>
          <a:ln w="12700">
            <a:solidFill>
              <a:srgbClr val="12244A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28032" y="32186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Correlations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28032" y="35661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Moderate correlations were found among assists, rebounds, and shooting-related variables. This motivated comparing a small versus full logistic regression.</a:t>
            </a:r>
            <a:endParaRPr lang="en-US" sz="11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Model Comparison: Training Accuracy</a:t>
            </a:r>
            <a:endParaRPr lang="en-US" sz="3000" dirty="0">
              <a:latin typeface="Aptos" panose="020B0004020202020204" pitchFamily="34" charset="0"/>
            </a:endParaRPr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654405718"/>
              </p:ext>
            </p:extLst>
          </p:nvPr>
        </p:nvGraphicFramePr>
        <p:xfrm>
          <a:off x="274320" y="11887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860797263"/>
              </p:ext>
            </p:extLst>
          </p:nvPr>
        </p:nvGraphicFramePr>
        <p:xfrm>
          <a:off x="4754880" y="11887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10-Fold Cross-Validation: ROC AUC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83464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1645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Men ROC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64592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Women ROC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92240" y="1188720"/>
            <a:ext cx="173736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9224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Best Model?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2834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1645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Logistic (Small)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164592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004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0.7771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46320" y="164592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0.8714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92240" y="164592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92240" y="16459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2834640" cy="640080"/>
          </a:xfrm>
          <a:prstGeom prst="rect">
            <a:avLst/>
          </a:prstGeom>
          <a:solidFill>
            <a:srgbClr val="12244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760" y="2286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Logistic (Full)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0" y="2286000"/>
            <a:ext cx="1645920" cy="640080"/>
          </a:xfrm>
          <a:prstGeom prst="rect">
            <a:avLst/>
          </a:prstGeom>
          <a:solidFill>
            <a:srgbClr val="12244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0040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0.7820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1645920" cy="640080"/>
          </a:xfrm>
          <a:prstGeom prst="rect">
            <a:avLst/>
          </a:prstGeom>
          <a:solidFill>
            <a:srgbClr val="12244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463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0.8693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92240" y="2286000"/>
            <a:ext cx="1737360" cy="640080"/>
          </a:xfrm>
          <a:prstGeom prst="rect">
            <a:avLst/>
          </a:prstGeom>
          <a:solidFill>
            <a:srgbClr val="12244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766560" y="2395728"/>
            <a:ext cx="1188720" cy="38404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23957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BEST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65760" y="2926080"/>
            <a:ext cx="28346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2926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200400" y="292608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20040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0.7117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46320" y="292608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4632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0.8291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92240" y="2926080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92240" y="2926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65760" y="3566160"/>
            <a:ext cx="2834640" cy="64008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6576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200400" y="3566160"/>
            <a:ext cx="1645920" cy="64008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2004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0.7522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846320" y="3566160"/>
            <a:ext cx="1645920" cy="64008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84632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A1628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0.8607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92240" y="3566160"/>
            <a:ext cx="1737360" cy="640080"/>
          </a:xfrm>
          <a:prstGeom prst="rect">
            <a:avLst/>
          </a:prstGeom>
          <a:solidFill>
            <a:srgbClr val="EEF2F8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92240" y="3566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Final Model Selection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0B42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Full Logistic Regression chosen for both men's and women's tournaments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86200" cy="155448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94360" cy="1554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Best Cross-Validated ROC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Outperformed all other models using proper out-of-sample evaluation via 10-fold cross-validation.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3886200" cy="155448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594360" cy="1554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41732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15544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Consistent Across Both Datasets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40680" y="19659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Achieved the top ROC for men (0.7820) and women (0.8749) with no competing method finishing higher in either.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886200" cy="155448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94360" cy="1554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57200" y="315468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3291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Easier to Interpret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" y="3703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Logistic regression coefficients are interpretable, making results easier to explain compared to random forest.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3886200" cy="155448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594360" cy="155448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594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440680" y="3291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More Flexible is Not Always Better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40680" y="37033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Random forests and trees did not outperform logistic regression, confirming that model complexity alone is not sufficient.</a:t>
            </a:r>
            <a:endParaRPr lang="en-US" sz="11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960120"/>
            <a:ext cx="9144000" cy="64008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Applying the Model: 2026 Predictions</a:t>
            </a:r>
            <a:endParaRPr lang="en-US" sz="3000" dirty="0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48640" cy="6858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1188720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List matchups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Identify all 2026 bracket pairings and label Team A and Team B.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548640" cy="6858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05840" y="2075688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Compute differences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2423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Calculate the same 15 SeedDiff, ScoreDiff, and stat difference predictors used in training.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62656"/>
            <a:ext cx="548640" cy="6858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2962656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05840" y="2962656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3035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Apply model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7280" y="33101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Plug the computed predictors into the final full logistic regression model.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3849624"/>
            <a:ext cx="548640" cy="6858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65760" y="384962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5840" y="3849624"/>
            <a:ext cx="7772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" y="39227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Get probabilities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7280" y="41970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Generate a win probability for Team A in each game and use that to guide picks.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2244A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B429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Sample Output (Clemson as Team A)    Men: 60.1% win probability    Women: 77.4% win probability</a:t>
            </a:r>
            <a:endParaRPr lang="en-US" sz="115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Conclusions &amp; Limitations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164592" cy="164592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Difference-based predictors were the most important modeling decision.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164592" cy="164592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Simpler logistic regression outperformed more complex tree methods.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164592" cy="164592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26060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Cross-validation was essential for reliable model selection.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3200400"/>
            <a:ext cx="164592" cy="164592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68680" y="31546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Women's models consistently outperformed men's across all methods.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" y="3749040"/>
            <a:ext cx="164592" cy="164592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Both separate models are now ready for 2026 bracket predictions.</a:t>
            </a:r>
            <a:endParaRPr lang="en-US" sz="1150" dirty="0">
              <a:latin typeface="Aptos" panose="020B00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12244A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80" y="10058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300" dirty="0">
              <a:latin typeface="Aptos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1572768"/>
            <a:ext cx="374904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160020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No Injury Data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937760" y="189280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Player availability and injuries are not captured in the season-average statistics.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46320" y="2624328"/>
            <a:ext cx="3749040" cy="914400"/>
          </a:xfrm>
          <a:prstGeom prst="rect">
            <a:avLst/>
          </a:prstGeom>
          <a:solidFill>
            <a:srgbClr val="1A3A6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265176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No Momentum Signal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94436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Late-season performance trends and coaching changes are not reflected in the model.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6320" y="3675888"/>
            <a:ext cx="3749040" cy="724174"/>
          </a:xfrm>
          <a:prstGeom prst="rect">
            <a:avLst/>
          </a:prstGeom>
          <a:solidFill>
            <a:srgbClr val="1A3A6E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37760" y="3703320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B429"/>
                </a:solidFill>
                <a:latin typeface="Aptos" panose="020B0004020202020204" pitchFamily="34" charset="0"/>
                <a:ea typeface="Trebuchet MS" pitchFamily="34" charset="-122"/>
                <a:cs typeface="Trebuchet MS" pitchFamily="34" charset="-120"/>
              </a:rPr>
              <a:t>Tournament Variance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937760" y="3926371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March Madness upsets are inherently unpredictable and no model eliminates that uncertainty.</a:t>
            </a:r>
            <a:endParaRPr lang="en-US" sz="1100" dirty="0">
              <a:latin typeface="Aptos" panose="020B00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930C"/>
          </a:solidFill>
          <a:ln w="12700">
            <a:solidFill>
              <a:srgbClr val="C9930C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695</Words>
  <Application>Microsoft Macintosh PowerPoint</Application>
  <PresentationFormat>On-screen Show (16:9)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NCAA Basketball Tournament Prediction Modeling</dc:title>
  <dc:subject>PptxGenJS Presentation</dc:subject>
  <dc:creator>PptxGenJS</dc:creator>
  <cp:lastModifiedBy>Subhash, Sanjit (MU-Student)</cp:lastModifiedBy>
  <cp:revision>2</cp:revision>
  <cp:lastPrinted>2026-03-16T07:38:12Z</cp:lastPrinted>
  <dcterms:created xsi:type="dcterms:W3CDTF">2026-03-16T07:14:40Z</dcterms:created>
  <dcterms:modified xsi:type="dcterms:W3CDTF">2026-03-16T07:39:43Z</dcterms:modified>
</cp:coreProperties>
</file>